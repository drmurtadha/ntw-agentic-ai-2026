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959d3565e645a5" /><Relationship Type="http://schemas.openxmlformats.org/officeDocument/2006/relationships/extended-properties" Target="/docProps/app.xml" Id="R00412b81154e48cf" /><Relationship Type="http://schemas.openxmlformats.org/officeDocument/2006/relationships/officeDocument" Target="/ppt/presentation.xml" Id="Rc2a8efd959f241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049ea1f5104de9"/>
  </p:sldMasterIdLst>
  <p:notesMasterIdLst>
    <p:notesMasterId xmlns:r="http://schemas.openxmlformats.org/officeDocument/2006/relationships" r:id="R714fa0ba4e4a4792"/>
  </p:notesMasterIdLst>
  <p:sldIdLst>
    <p:sldId xmlns:r="http://schemas.openxmlformats.org/officeDocument/2006/relationships" id="256" r:id="R7055f588a92e460f"/>
    <p:sldId xmlns:r="http://schemas.openxmlformats.org/officeDocument/2006/relationships" id="257" r:id="R9a17b25843de4c88"/>
    <p:sldId xmlns:r="http://schemas.openxmlformats.org/officeDocument/2006/relationships" id="258" r:id="R631d93e08df94177"/>
    <p:sldId xmlns:r="http://schemas.openxmlformats.org/officeDocument/2006/relationships" id="259" r:id="R8c539546564b4548"/>
    <p:sldId xmlns:r="http://schemas.openxmlformats.org/officeDocument/2006/relationships" id="260" r:id="R3ca1450e4af546fc"/>
    <p:sldId xmlns:r="http://schemas.openxmlformats.org/officeDocument/2006/relationships" id="261" r:id="Rf2abac0d238e4f98"/>
    <p:sldId xmlns:r="http://schemas.openxmlformats.org/officeDocument/2006/relationships" id="262" r:id="R769c95d7422444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7c8cdc2a8344444" /><Relationship Type="http://schemas.openxmlformats.org/officeDocument/2006/relationships/slideMaster" Target="/ppt/slideMasters/slideMaster1.xml" Id="R78049ea1f5104de9" /><Relationship Type="http://schemas.openxmlformats.org/officeDocument/2006/relationships/notesMaster" Target="/ppt/notesMasters/notesMaster1.xml" Id="R714fa0ba4e4a4792" /><Relationship Type="http://schemas.openxmlformats.org/officeDocument/2006/relationships/presProps" Target="/ppt/presProps.xml" Id="Rf2a106a9c29745b0" /><Relationship Type="http://schemas.openxmlformats.org/officeDocument/2006/relationships/tableStyles" Target="/ppt/tableStyles.xml" Id="R5a0ac88518d443a2" /><Relationship Type="http://schemas.openxmlformats.org/officeDocument/2006/relationships/slide" Target="/ppt/slides/slide1.xml" Id="R7055f588a92e460f" /><Relationship Type="http://schemas.openxmlformats.org/officeDocument/2006/relationships/slide" Target="/ppt/slides/slide2.xml" Id="R9a17b25843de4c88" /><Relationship Type="http://schemas.openxmlformats.org/officeDocument/2006/relationships/slide" Target="/ppt/slides/slide3.xml" Id="R631d93e08df94177" /><Relationship Type="http://schemas.openxmlformats.org/officeDocument/2006/relationships/slide" Target="/ppt/slides/slide4.xml" Id="R8c539546564b4548" /><Relationship Type="http://schemas.openxmlformats.org/officeDocument/2006/relationships/slide" Target="/ppt/slides/slide5.xml" Id="R3ca1450e4af546fc" /><Relationship Type="http://schemas.openxmlformats.org/officeDocument/2006/relationships/slide" Target="/ppt/slides/slide6.xml" Id="Rf2abac0d238e4f98" /><Relationship Type="http://schemas.openxmlformats.org/officeDocument/2006/relationships/slide" Target="/ppt/slides/slide7.xml" Id="R769c95d7422444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5c8149e74d44e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2C070A"/>
      </a:dk1>
      <a:lt1>
        <a:srgbClr val="FFF8E7"/>
      </a:lt1>
      <a:dk2>
        <a:srgbClr val="4A0B10"/>
      </a:dk2>
      <a:lt2>
        <a:srgbClr val="F4E4B4"/>
      </a:lt2>
      <a:accent1>
        <a:srgbClr val="AA151B"/>
      </a:accent1>
      <a:accent2>
        <a:srgbClr val="F1BF00"/>
      </a:accent2>
      <a:accent3>
        <a:srgbClr val="7E1418"/>
      </a:accent3>
      <a:accent4>
        <a:srgbClr val="C62828"/>
      </a:accent4>
      <a:accent5>
        <a:srgbClr val="8A1C24"/>
      </a:accent5>
      <a:accent6>
        <a:srgbClr val="D89E00"/>
      </a:accent6>
      <a:hlink>
        <a:srgbClr val="AA151B"/>
      </a:hlink>
      <a:folHlink>
        <a:srgbClr val="8A1C24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C070A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C070A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C070A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C070A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C070A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476809b2a74d25" /><Relationship Type="http://schemas.openxmlformats.org/officeDocument/2006/relationships/notesMaster" Target="/ppt/notesMasters/notesMaster1.xml" Id="R1d3fc2cf576b43a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5eb52f44242494d" /><Relationship Type="http://schemas.openxmlformats.org/officeDocument/2006/relationships/notesMaster" Target="/ppt/notesMasters/notesMaster1.xml" Id="R57f7e19f1f8645e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7af882dd814e72" /><Relationship Type="http://schemas.openxmlformats.org/officeDocument/2006/relationships/notesMaster" Target="/ppt/notesMasters/notesMaster1.xml" Id="Rc41191c25e0942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613877644b48d0" /><Relationship Type="http://schemas.openxmlformats.org/officeDocument/2006/relationships/notesMaster" Target="/ppt/notesMasters/notesMaster1.xml" Id="Rae686105873d44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53d47ec615477d" /><Relationship Type="http://schemas.openxmlformats.org/officeDocument/2006/relationships/notesMaster" Target="/ppt/notesMasters/notesMaster1.xml" Id="Rd1a58593621342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a4e9dcd58644964" /><Relationship Type="http://schemas.openxmlformats.org/officeDocument/2006/relationships/notesMaster" Target="/ppt/notesMasters/notesMaster1.xml" Id="R3c04269f12a6439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99e97c93ae04dbe" /><Relationship Type="http://schemas.openxmlformats.org/officeDocument/2006/relationships/notesMaster" Target="/ppt/notesMasters/notesMaster1.xml" Id="R5fd6e66c53bc43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61097436224fc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a78ddabbd974cc9" /><Relationship Type="http://schemas.openxmlformats.org/officeDocument/2006/relationships/slideLayout" Target="/ppt/slideLayouts/slideLayout1.xml" Id="R9ff4c738b0564c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f4c738b0564c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2C070A"/>
      </a:dk1>
      <a:lt1>
        <a:srgbClr val="FFF8E7"/>
      </a:lt1>
      <a:dk2>
        <a:srgbClr val="4A0B10"/>
      </a:dk2>
      <a:lt2>
        <a:srgbClr val="F4E4B4"/>
      </a:lt2>
      <a:accent1>
        <a:srgbClr val="AA151B"/>
      </a:accent1>
      <a:accent2>
        <a:srgbClr val="F1BF00"/>
      </a:accent2>
      <a:accent3>
        <a:srgbClr val="7E1418"/>
      </a:accent3>
      <a:accent4>
        <a:srgbClr val="C62828"/>
      </a:accent4>
      <a:accent5>
        <a:srgbClr val="8A1C24"/>
      </a:accent5>
      <a:accent6>
        <a:srgbClr val="D89E00"/>
      </a:accent6>
      <a:hlink>
        <a:srgbClr val="AA151B"/>
      </a:hlink>
      <a:folHlink>
        <a:srgbClr val="8A1C24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C070A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C070A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C070A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C070A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C070A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dc2e51fd6a486b" /><Relationship Type="http://schemas.openxmlformats.org/officeDocument/2006/relationships/notesSlide" Target="/ppt/notesSlides/notesSlide1.xml" Id="R4778cc21fc644a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d2d83e9cc4a90" /><Relationship Type="http://schemas.openxmlformats.org/officeDocument/2006/relationships/notesSlide" Target="/ppt/notesSlides/notesSlide2.xml" Id="Rcecdb6d2466340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7336ebcb6e4cc3" /><Relationship Type="http://schemas.openxmlformats.org/officeDocument/2006/relationships/notesSlide" Target="/ppt/notesSlides/notesSlide3.xml" Id="R2a5266c9160447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0f8383e31a484e" /><Relationship Type="http://schemas.openxmlformats.org/officeDocument/2006/relationships/notesSlide" Target="/ppt/notesSlides/notesSlide4.xml" Id="R5e90c902487f4c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178000d0c446a5" /><Relationship Type="http://schemas.openxmlformats.org/officeDocument/2006/relationships/notesSlide" Target="/ppt/notesSlides/notesSlide5.xml" Id="R56aff0c45fe44f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93affacd74fd4" /><Relationship Type="http://schemas.openxmlformats.org/officeDocument/2006/relationships/notesSlide" Target="/ppt/notesSlides/notesSlide6.xml" Id="R0eec2b2515f34a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a890e299074694" /><Relationship Type="http://schemas.openxmlformats.org/officeDocument/2006/relationships/notesSlide" Target="/ppt/notesSlides/notesSlide7.xml" Id="R9126a23d13584c7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F06C6-F272-4DAC-845F-BE7A3CBD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F5550"/>
                </a:solidFill>
              </a:defRPr>
            </a:pPr>
            <a:r>
              <a:rPr sz="1125" b="1">
                <a:solidFill>
                  <a:srgbClr val="6F5550"/>
                </a:solidFill>
              </a:rPr>
              <a:t>NTW 2026 · UTM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4FB9DB-CE03-4D43-AAF2-8A25BC61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9620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4A0B10"/>
                </a:solidFill>
              </a:defRPr>
            </a:pPr>
            <a:r>
              <a:rPr sz="3900" b="1">
                <a:solidFill>
                  <a:srgbClr val="4A0B10"/>
                </a:solidFill>
              </a:rPr>
              <a:t>Memanfaatkan Agentic AI untuk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4A0B10"/>
                </a:solidFill>
              </a:defRPr>
            </a:pPr>
            <a:r>
              <a:rPr sz="3900" b="1">
                <a:solidFill>
                  <a:srgbClr val="4A0B10"/>
                </a:solidFill>
              </a:rPr>
              <a:t>Meningkatkan Produktiviti Harian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DA08DE-39FA-431F-9640-86CE1E0C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62350"/>
            <a:ext cx="1714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15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7D7650-8A6F-4102-8BEB-F27ACAE7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000500"/>
            <a:ext cx="876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6F5550"/>
                </a:solidFill>
              </a:defRPr>
            </a:pPr>
            <a:r>
              <a:rPr sz="2025" b="0">
                <a:solidFill>
                  <a:srgbClr val="6F5550"/>
                </a:solidFill>
              </a:rPr>
              <a:t>AI sudah boleh menghasilkan jawapan.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6F5550"/>
                </a:solidFill>
              </a:defRPr>
            </a:pPr>
            <a:r>
              <a:rPr sz="2025" b="0">
                <a:solidFill>
                  <a:srgbClr val="6F5550"/>
                </a:solidFill>
              </a:rPr>
              <a:t>Tetapi siapa yang menyiapkan kerja selepas itu?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D4E36-7779-4FFB-8171-26D27F63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91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F5550"/>
                </a:solidFill>
              </a:defRPr>
            </a:pPr>
            <a:r>
              <a:rPr sz="1200" b="0">
                <a:solidFill>
                  <a:srgbClr val="6F5550"/>
                </a:solidFill>
              </a:rPr>
              <a:t>Prof. Madya Dr. Mohd Murtadha Mohamad · 21 Julai 2026</a:t>
            </a:r>
          </a:p>
        </p:txBody>
      </p:sp>
    </p:spTree>
    <p:extLst>
      <p:ext uri="{BB962C8B-B14F-4D97-AF65-F5344CB8AC3E}">
        <p14:creationId xmlns:p14="http://schemas.microsoft.com/office/powerpoint/2010/main" val="1629406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AF21BA-D3A4-4258-B666-692155EE7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IDEA UTAMA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F128BE-DA9D-4D2B-9CAD-8508D169B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667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E2EB4B-FD69-4387-91DA-1B60E8F0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A827F-7D49-4207-946A-9D4DDACC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Generative AI menghasilkan sesuatu.</a:t>
            </a:r>
          </a:p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Agentic AI menyelesaikan sesuatu.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6D3C99-ACC8-46EE-897B-D0CF4E68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71750"/>
            <a:ext cx="52197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F3AA3-E1E9-4183-A306-BE9DB6D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194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5550"/>
                </a:solidFill>
              </a:defRPr>
            </a:pPr>
            <a:r>
              <a:rPr sz="1200" b="1">
                <a:solidFill>
                  <a:srgbClr val="6F5550"/>
                </a:solidFill>
              </a:rPr>
              <a:t>GENERATIVE 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1454B1-F032-415B-8A23-5F980998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5280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4A0B10"/>
                </a:solidFill>
              </a:defRPr>
            </a:pPr>
            <a:r>
              <a:rPr sz="1275" b="1">
                <a:solidFill>
                  <a:srgbClr val="4A0B10"/>
                </a:solidFill>
              </a:rPr>
              <a:t>PROMPT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721281-A96A-487F-91F4-8815D0DA5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29565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A151B"/>
                </a:solidFill>
              </a:defRPr>
            </a:pPr>
            <a:r>
              <a:rPr sz="2100" b="1">
                <a:solidFill>
                  <a:srgbClr val="AA151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66E67D-36C2-4211-927B-D5CCE0FA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528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4A0B10"/>
                </a:solidFill>
              </a:defRPr>
            </a:pPr>
            <a:r>
              <a:rPr sz="1275" b="1">
                <a:solidFill>
                  <a:srgbClr val="4A0B10"/>
                </a:solidFill>
              </a:rPr>
              <a:t>JAWAPAN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9CAEF1-7D08-41DF-B5B2-A674B934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71950"/>
            <a:ext cx="428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F5550"/>
                </a:solidFill>
              </a:defRPr>
            </a:pPr>
            <a:r>
              <a:rPr sz="1650" b="0">
                <a:solidFill>
                  <a:srgbClr val="6F5550"/>
                </a:solidFill>
              </a:rPr>
              <a:t>Menjana teks, imej, idea atau ringkasan—kemudian menunggu arahan seterusnya.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0E7969-4EE7-4318-A24C-914BE9A2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5676900" cy="3124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0B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5FE195-A9C5-49E5-812D-B4BCC53B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19400"/>
            <a:ext cx="438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1BF00"/>
                </a:solidFill>
              </a:defRPr>
            </a:pPr>
            <a:r>
              <a:rPr sz="1200" b="1">
                <a:solidFill>
                  <a:srgbClr val="F1BF00"/>
                </a:solidFill>
              </a:rPr>
              <a:t>AGENTIC 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25693-DBA4-4AA7-8FB9-A6B644A02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5280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8E7"/>
                </a:solidFill>
              </a:defRPr>
            </a:pPr>
            <a:r>
              <a:rPr sz="1275" b="1">
                <a:solidFill>
                  <a:srgbClr val="FFF8E7"/>
                </a:solidFill>
              </a:rPr>
              <a:t>MATLAMAT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A4FDDD-0FA6-4759-95F5-EF9C1EC0A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9565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1BF00"/>
                </a:solidFill>
              </a:defRPr>
            </a:pPr>
            <a:r>
              <a:rPr sz="2100" b="1">
                <a:solidFill>
                  <a:srgbClr val="F1BF00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F4A87D-BBFF-4773-B6AA-BF639151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8E7"/>
                </a:solidFill>
              </a:defRPr>
            </a:pPr>
            <a:r>
              <a:rPr sz="1275" b="1">
                <a:solidFill>
                  <a:srgbClr val="FFF8E7"/>
                </a:solidFill>
              </a:rPr>
              <a:t>HASIL KERJA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0546C1-FE1D-4809-B707-6DD4E305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71950"/>
            <a:ext cx="46291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F8E9D0"/>
                </a:solidFill>
              </a:defRPr>
            </a:pPr>
            <a:r>
              <a:rPr sz="1650" b="0">
                <a:solidFill>
                  <a:srgbClr val="F8E9D0"/>
                </a:solidFill>
              </a:rPr>
              <a:t>Merancang beberapa langkah, menggunakan sumber dan alat, lalu menyemak hasil.</a:t>
            </a:r>
          </a:p>
        </p:txBody>
      </p:sp>
    </p:spTree>
    <p:extLst>
      <p:ext uri="{BB962C8B-B14F-4D97-AF65-F5344CB8AC3E}">
        <p14:creationId xmlns:p14="http://schemas.microsoft.com/office/powerpoint/2010/main" val="11543101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8986EF-1811-4347-B71A-C63F36E8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CARA AGENT BEKERJA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31B283-DCE6-4E95-BE85-9ECB352C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667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A3F846-83D4-4410-B926-D0603140F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EDBC9B-22CF-41C1-A08B-965462F9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Agent mengubah satu matlamat menjadi beberapa tindakan.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86486B-91B4-4494-AA0C-E5FA45F2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24100"/>
            <a:ext cx="1866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2E0BC-E523-4A61-ABE7-C609BF58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527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A0B10"/>
                </a:solidFill>
              </a:defRPr>
            </a:pPr>
            <a:r>
              <a:rPr sz="1650" b="1">
                <a:solidFill>
                  <a:srgbClr val="4A0B10"/>
                </a:solidFill>
              </a:rPr>
              <a:t>1  Fahami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AB9F9-9F77-4FF3-90CA-9A7502ACA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33750"/>
            <a:ext cx="1504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F5550"/>
                </a:solidFill>
              </a:defRPr>
            </a:pPr>
            <a:r>
              <a:rPr sz="1425" b="0">
                <a:solidFill>
                  <a:srgbClr val="6F5550"/>
                </a:solidFill>
              </a:rPr>
              <a:t>Kenal pasti hasil dan batasan.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030761-A446-4C4E-B5A8-350B795F1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623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AA151B"/>
                </a:solidFill>
              </a:defRPr>
            </a:pPr>
            <a:r>
              <a:rPr sz="1950" b="1">
                <a:solidFill>
                  <a:srgbClr val="AA151B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EC977-9066-458B-A96E-ABCCD1744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24100"/>
            <a:ext cx="1866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A3D30-2286-4E01-965B-88BDAFBAC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A0B10"/>
                </a:solidFill>
              </a:defRPr>
            </a:pPr>
            <a:r>
              <a:rPr sz="1650" b="1">
                <a:solidFill>
                  <a:srgbClr val="4A0B10"/>
                </a:solidFill>
              </a:rPr>
              <a:t>2  Rancang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DB31A0-0BEE-4443-909E-AEE32D429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333750"/>
            <a:ext cx="1504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F5550"/>
                </a:solidFill>
              </a:defRPr>
            </a:pPr>
            <a:r>
              <a:rPr sz="1425" b="0">
                <a:solidFill>
                  <a:srgbClr val="6F5550"/>
                </a:solidFill>
              </a:rPr>
              <a:t>Susun langkah yang diperlukan.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25268-7F20-4837-91A3-69D0026AF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623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AA151B"/>
                </a:solidFill>
              </a:defRPr>
            </a:pPr>
            <a:r>
              <a:rPr sz="1950" b="1">
                <a:solidFill>
                  <a:srgbClr val="AA151B"/>
                </a:solidFill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435D97-F444-4C07-8D64-1B469A26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24100"/>
            <a:ext cx="1866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89B91B-027D-46DC-80C0-FB6C8AD3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5527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A0B10"/>
                </a:solidFill>
              </a:defRPr>
            </a:pPr>
            <a:r>
              <a:rPr sz="1650" b="1">
                <a:solidFill>
                  <a:srgbClr val="4A0B10"/>
                </a:solidFill>
              </a:rPr>
              <a:t>3  Gunakan alat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02958C-1B95-4061-AAD4-BCC60A8D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333750"/>
            <a:ext cx="1504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F5550"/>
                </a:solidFill>
              </a:defRPr>
            </a:pPr>
            <a:r>
              <a:rPr sz="1425" b="0">
                <a:solidFill>
                  <a:srgbClr val="6F5550"/>
                </a:solidFill>
              </a:rPr>
              <a:t>Baca fail, data atau aplikasi.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92F76-3B80-4C44-8DDE-A7D74098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623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AA151B"/>
                </a:solidFill>
              </a:defRPr>
            </a:pPr>
            <a:r>
              <a:rPr sz="1950" b="1">
                <a:solidFill>
                  <a:srgbClr val="AA151B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3D52D7-D48A-4C72-A2DE-5685ECED3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324100"/>
            <a:ext cx="1866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96249E-6DA4-4FD1-B0E5-9EA76D65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527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4A0B10"/>
                </a:solidFill>
              </a:defRPr>
            </a:pPr>
            <a:r>
              <a:rPr sz="1650" b="1">
                <a:solidFill>
                  <a:srgbClr val="4A0B10"/>
                </a:solidFill>
              </a:rPr>
              <a:t>4  Hasilkan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D0BA47-4EEE-4F83-96C4-F39D8D70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33750"/>
            <a:ext cx="1504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F5550"/>
                </a:solidFill>
              </a:defRPr>
            </a:pPr>
            <a:r>
              <a:rPr sz="1425" b="0">
                <a:solidFill>
                  <a:srgbClr val="6F5550"/>
                </a:solidFill>
              </a:rPr>
              <a:t>Cipta dokumen atau kemas kini kerja.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9841E2-7608-428F-9E85-B8CCE1DF0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62300"/>
            <a:ext cx="28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AA151B"/>
                </a:solidFill>
              </a:defRPr>
            </a:pPr>
            <a:r>
              <a:rPr sz="1950" b="1">
                <a:solidFill>
                  <a:srgbClr val="AA151B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EEA71F-74D4-41D7-BAE9-16C5D8D4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24100"/>
            <a:ext cx="18669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0B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BD4C18-0655-4FF0-8ABD-9379B282E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5270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1BF00"/>
                </a:solidFill>
              </a:defRPr>
            </a:pPr>
            <a:r>
              <a:rPr sz="1650" b="1">
                <a:solidFill>
                  <a:srgbClr val="F1BF00"/>
                </a:solidFill>
              </a:rPr>
              <a:t>5  Semak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799B35-5DC8-4524-A5BF-98C00BB4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1504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8E7"/>
                </a:solidFill>
              </a:defRPr>
            </a:pPr>
            <a:r>
              <a:rPr sz="1425" b="0">
                <a:solidFill>
                  <a:srgbClr val="FFF8E7"/>
                </a:solidFill>
              </a:rPr>
              <a:t>Uji hasil dan baiki jurang.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398D6A-0CF0-4F22-8198-92AA77887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143500"/>
            <a:ext cx="10515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8CB4CB-0FF5-476A-9D9B-58D93A3F3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10200"/>
            <a:ext cx="9982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Manusia menetapkan matlamat, memberi akses dan meluluskan keputusan penting.</a:t>
            </a:r>
          </a:p>
        </p:txBody>
      </p:sp>
    </p:spTree>
    <p:extLst>
      <p:ext uri="{BB962C8B-B14F-4D97-AF65-F5344CB8AC3E}">
        <p14:creationId xmlns:p14="http://schemas.microsoft.com/office/powerpoint/2010/main" val="8967688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2F5134-B0A0-4B95-99D8-CFC50D9D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CONTOH KERJA UTM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BF645F-2881-4D85-9630-4F7949088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667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F57310-71AE-4626-8D77-403308D7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2BEDFF-E1C6-4A2C-9A4D-4E0630F14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Satu tugasan biasa boleh menjadi aliran kerja agent.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471B30-E4EA-4164-BC5F-2473FD4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8669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5550"/>
                </a:solidFill>
              </a:defRPr>
            </a:pPr>
            <a:r>
              <a:rPr sz="1200" b="1">
                <a:solidFill>
                  <a:srgbClr val="6F5550"/>
                </a:solidFill>
              </a:rPr>
              <a:t>SELEPAS PROGRAM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9F2044-4DD9-4093-9222-4FC4220CB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05050"/>
            <a:ext cx="3619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4A0B10"/>
                </a:solidFill>
              </a:defRPr>
            </a:pPr>
            <a:r>
              <a:rPr sz="2400" b="1">
                <a:solidFill>
                  <a:srgbClr val="4A0B10"/>
                </a:solidFill>
              </a:rPr>
              <a:t>Sediakan pakej susulan</a:t>
            </a:r>
          </a:p>
          <a:p xmlns:a="http://schemas.openxmlformats.org/drawingml/2006/main">
            <a:pPr algn="l">
              <a:buNone/>
              <a:defRPr sz="2400" b="1">
                <a:solidFill>
                  <a:srgbClr val="4A0B10"/>
                </a:solidFill>
              </a:defRPr>
            </a:pPr>
            <a:r>
              <a:rPr sz="2400" b="1">
                <a:solidFill>
                  <a:srgbClr val="4A0B10"/>
                </a:solidFill>
              </a:rPr>
              <a:t>untuk urus setia.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817AF9-31DC-4D1D-B29F-3FCCF326F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866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5550"/>
                </a:solidFill>
              </a:defRPr>
            </a:pPr>
            <a:r>
              <a:rPr sz="1350" b="1">
                <a:solidFill>
                  <a:srgbClr val="6F5550"/>
                </a:solidFill>
              </a:rPr>
              <a:t>Sumber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BA1B54-C576-49D5-8002-83DA8E1E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05050"/>
            <a:ext cx="2628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64DC27-1314-4F68-9BED-235D1410A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7650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A0B10"/>
                </a:solidFill>
              </a:defRPr>
            </a:pPr>
            <a:r>
              <a:rPr sz="1425" b="1">
                <a:solidFill>
                  <a:srgbClr val="4A0B10"/>
                </a:solidFill>
              </a:rPr>
              <a:t>Nota mesyuarat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612EE9-B1A1-4AFA-8F3F-4BC193BF8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86100"/>
            <a:ext cx="2628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5A603C-5D4F-43A1-B35D-FC264CD1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5755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A0B10"/>
                </a:solidFill>
              </a:defRPr>
            </a:pPr>
            <a:r>
              <a:rPr sz="1425" b="1">
                <a:solidFill>
                  <a:srgbClr val="4A0B10"/>
                </a:solidFill>
              </a:rPr>
              <a:t>Rekod kehadiran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5AE415-9E20-4CF2-9B78-9264680F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67150"/>
            <a:ext cx="26289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E2531F-EE82-4D3E-93F6-8B995C0D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38600"/>
            <a:ext cx="2247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A0B10"/>
                </a:solidFill>
              </a:defRPr>
            </a:pPr>
            <a:r>
              <a:rPr sz="1425" b="1">
                <a:solidFill>
                  <a:srgbClr val="4A0B10"/>
                </a:solidFill>
              </a:rPr>
              <a:t>Maklum balas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B4367-AFA0-4E9E-9CE4-BF41436FA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8669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6F5550"/>
                </a:solidFill>
              </a:defRPr>
            </a:pPr>
            <a:r>
              <a:rPr sz="1350" b="1">
                <a:solidFill>
                  <a:srgbClr val="6F5550"/>
                </a:solidFill>
              </a:rPr>
              <a:t>Hasil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85419B-DB3E-466E-9B2E-9BAA54B4F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05050"/>
            <a:ext cx="3409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2DCF28-C1E8-47CE-89C9-8C718DF86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7650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A0B10"/>
                </a:solidFill>
              </a:defRPr>
            </a:pPr>
            <a:r>
              <a:rPr sz="1425" b="1">
                <a:solidFill>
                  <a:srgbClr val="4A0B10"/>
                </a:solidFill>
              </a:rPr>
              <a:t>Ringkasan pengurusan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DBA031-3131-4FDA-9310-EB0D1D55B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6100"/>
            <a:ext cx="3409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23E9FA-652C-4246-8B4F-9FFD68AF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2575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4A0B10"/>
                </a:solidFill>
              </a:defRPr>
            </a:pPr>
            <a:r>
              <a:rPr sz="1425" b="1">
                <a:solidFill>
                  <a:srgbClr val="4A0B10"/>
                </a:solidFill>
              </a:rPr>
              <a:t>Jadual tindakan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F15BCD-B8BB-4054-9EE7-CEF0C1B4D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867150"/>
            <a:ext cx="340995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0B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1B934F-6A74-4D34-BDCA-A25EF5E8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7"/>
                </a:solidFill>
              </a:defRPr>
            </a:pPr>
            <a:r>
              <a:rPr sz="1425" b="1">
                <a:solidFill>
                  <a:srgbClr val="FFF8E7"/>
                </a:solidFill>
              </a:rPr>
              <a:t>Draf e-mel susulan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486551-1265-47F6-B7B6-8CA96C48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05050"/>
            <a:ext cx="381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15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8FE310-FEB1-4EA5-AF02-95FA67B9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05050"/>
            <a:ext cx="381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15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9D1C8D-2F07-4D88-A319-C1FCF49F2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34000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F5550"/>
                </a:solidFill>
              </a:defRPr>
            </a:pPr>
            <a:r>
              <a:rPr sz="1800" b="0">
                <a:solidFill>
                  <a:srgbClr val="6F5550"/>
                </a:solidFill>
              </a:rPr>
              <a:t>Agent membaca sumber, menyusun kerja dan menandakan perkara yang perlu disahkan.</a:t>
            </a:r>
          </a:p>
        </p:txBody>
      </p:sp>
    </p:spTree>
    <p:extLst>
      <p:ext uri="{BB962C8B-B14F-4D97-AF65-F5344CB8AC3E}">
        <p14:creationId xmlns:p14="http://schemas.microsoft.com/office/powerpoint/2010/main" val="465937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4A87CE-FC73-49F6-8B4D-C59BCC58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ANATOMI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AA2EEF-3F10-44EB-92F3-35195F02F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667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846BA-0F8D-4B05-89DB-9E998B1B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AE2BAA-D377-4489-A2B3-95372AB5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Agent menjadi berguna apabila mempunyai konteks dan alat.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52273-1962-4374-99D8-294D1131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86000"/>
            <a:ext cx="3238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E4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34BB87-FA03-431A-ACC8-FAFE01D6B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14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ACC72B-F0CD-419A-8F73-28B71A1D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861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4A0B10"/>
                </a:solidFill>
              </a:defRPr>
            </a:pPr>
            <a:r>
              <a:rPr sz="2100" b="1">
                <a:solidFill>
                  <a:srgbClr val="4A0B10"/>
                </a:solidFill>
              </a:rPr>
              <a:t>Model AI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AE9FB-2C68-4054-86AE-0815E576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Memahami matlamat dan membuat pertimbangan.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70350C-AE4C-4410-9BC7-9EA42B493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86000"/>
            <a:ext cx="3238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E59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9890CB-6147-49E5-8388-32F36A310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514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53BDE9-CF5F-4E18-A2A5-9E812E929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0861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4A0B10"/>
                </a:solidFill>
              </a:defRPr>
            </a:pPr>
            <a:r>
              <a:rPr sz="2100" b="1">
                <a:solidFill>
                  <a:srgbClr val="4A0B10"/>
                </a:solidFill>
              </a:rPr>
              <a:t>Konteks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30C46D-5F43-468A-A3E0-7ECA3C97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7909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Repositori, Google Drive, Docs, data dan arahan.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D726EE-A0F4-4275-9FE9-4E19080D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286000"/>
            <a:ext cx="3238500" cy="2762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0B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69F33E-0297-4436-9050-6F27A3014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1BF00"/>
                </a:solidFill>
              </a:defRPr>
            </a:pPr>
            <a:r>
              <a:rPr sz="1200" b="1">
                <a:solidFill>
                  <a:srgbClr val="F1BF00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C78239-2E51-48AD-8AE3-A88798AAE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86100"/>
            <a:ext cx="2781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7"/>
                </a:solidFill>
              </a:defRPr>
            </a:pPr>
            <a:r>
              <a:rPr sz="2100" b="1">
                <a:solidFill>
                  <a:srgbClr val="FFF8E7"/>
                </a:solidFill>
              </a:rPr>
              <a:t>Alat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DF0225-79C6-4BAF-ACF1-0EE60ED2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790950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8E9D0"/>
                </a:solidFill>
              </a:defRPr>
            </a:pPr>
            <a:r>
              <a:rPr sz="1575" b="0">
                <a:solidFill>
                  <a:srgbClr val="F8E9D0"/>
                </a:solidFill>
              </a:rPr>
              <a:t>Membaca, mengira, menulis, mencari dan menyusun.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D27883-1CC3-44FD-8EF2-D5AAA696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429250"/>
            <a:ext cx="6248400" cy="419100"/>
          </a:xfrm>
          <a:prstGeom xmlns:a="http://schemas.openxmlformats.org/drawingml/2006/main" prst="roundRect">
            <a:avLst>
              <a:gd name="adj" fmla="val 27273"/>
            </a:avLst>
          </a:prstGeom>
          <a:solidFill xmlns:a="http://schemas.openxmlformats.org/drawingml/2006/main">
            <a:srgbClr val="F1B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CDDB01-808D-4D68-8E7C-5FD414ADF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514975"/>
            <a:ext cx="598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4A0B10"/>
                </a:solidFill>
              </a:defRPr>
            </a:pPr>
            <a:r>
              <a:rPr sz="1350" b="1">
                <a:solidFill>
                  <a:srgbClr val="4A0B10"/>
                </a:solidFill>
              </a:rPr>
              <a:t>Pengawasan manusia mengelilingi keseluruhan proses</a:t>
            </a:r>
          </a:p>
        </p:txBody>
      </p:sp>
    </p:spTree>
    <p:extLst>
      <p:ext uri="{BB962C8B-B14F-4D97-AF65-F5344CB8AC3E}">
        <p14:creationId xmlns:p14="http://schemas.microsoft.com/office/powerpoint/2010/main" val="89956915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8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B6849B-6A45-4A5C-8EF6-8BE7E9CF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ARAHAN YANG BERKESAN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B5C522-55F1-4F3E-A189-88746F75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266700"/>
            <a:ext cx="53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5550"/>
                </a:solidFill>
              </a:defRPr>
            </a:pPr>
            <a:r>
              <a:rPr sz="1050" b="1">
                <a:solidFill>
                  <a:srgbClr val="6F5550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F640DD-D93B-4384-8776-CC3FDF1F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8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01D56-CC62-43A6-A8CB-B266AD80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763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4A0B10"/>
                </a:solidFill>
              </a:defRPr>
            </a:pPr>
            <a:r>
              <a:rPr sz="3150" b="1">
                <a:solidFill>
                  <a:srgbClr val="4A0B10"/>
                </a:solidFill>
              </a:rPr>
              <a:t>Berikan agent sebuah tugasan lengkap—bukan sekadar prompt.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097404-146D-40E4-81EC-933081FD3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336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36674-DE19-4549-B37C-41328009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955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Matlamat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02213B-54E3-4B51-8D3C-A6E9E840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1455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Apa yang mahu dicapai?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15E268-1115-49FA-980C-87227C24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55270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F90FD7-E151-4091-A6E4-9E06C9F5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575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94F9C-F781-4267-9DC0-5DAE61F6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Bahan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ACCC37-3700-4EBB-8979-DA1E113D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3845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Sumber mana boleh digunakan?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6621D6-F7BF-46E8-9FD6-973AA1AE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27660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EA3268-A12A-414B-B3CE-A4D9F842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5814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07ACE-E366-446F-9670-E395BBFEA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433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Batasan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E6808-678D-42B3-83DE-7669C77F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6235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Apa yang tidak boleh dilakukan?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E4878F-BF7A-45B4-81C8-B49A19046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0050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DE47E7-7DAD-4896-8350-C3368C7A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053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E3408E-9545-4F41-ADB3-986DAD09F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672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Hasil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BD3E8B-9A52-4D35-BB80-544B87E7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8625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Format akhir apa diperlukan?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E66FA6-AC32-450E-84DB-7673DF6EE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72440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BD7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253119-EF2F-43DC-AFE7-E4AAB802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2920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A151B"/>
                </a:solidFill>
              </a:defRPr>
            </a:pPr>
            <a:r>
              <a:rPr sz="1200" b="1">
                <a:solidFill>
                  <a:srgbClr val="AA151B"/>
                </a:solidFill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214AA9-43D9-4CA7-AC18-F5A4B3F8A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911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4A0B10"/>
                </a:solidFill>
              </a:defRPr>
            </a:pPr>
            <a:r>
              <a:rPr sz="1800" b="1">
                <a:solidFill>
                  <a:srgbClr val="4A0B10"/>
                </a:solidFill>
              </a:rPr>
              <a:t>Semakan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C97BF9-404D-47AF-A8F3-899600502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01015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6F5550"/>
                </a:solidFill>
              </a:defRPr>
            </a:pPr>
            <a:r>
              <a:rPr sz="1575" b="0">
                <a:solidFill>
                  <a:srgbClr val="6F5550"/>
                </a:solidFill>
              </a:rPr>
              <a:t>Apa yang mesti disahkan?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522B13-09BF-4993-A336-534F11B3C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448300"/>
            <a:ext cx="9677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A0B10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976219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4A0B1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1AA7C9-09C1-4C0D-8B87-9D30BEC7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1BF00"/>
                </a:solidFill>
              </a:defRPr>
            </a:pPr>
            <a:r>
              <a:rPr sz="1125" b="1">
                <a:solidFill>
                  <a:srgbClr val="F1BF00"/>
                </a:solidFill>
              </a:rPr>
              <a:t>SEBELUM KITA DEMONSTRASIKAN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647D31-0071-4AB4-AF9B-58DB6CFB7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28700"/>
            <a:ext cx="9906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7"/>
                </a:solidFill>
              </a:defRPr>
            </a:pPr>
            <a:r>
              <a:rPr sz="3300" b="1">
                <a:solidFill>
                  <a:srgbClr val="FFF8E7"/>
                </a:solidFill>
              </a:rPr>
              <a:t>Agentic tidak bermaksud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8E7"/>
                </a:solidFill>
              </a:defRPr>
            </a:pPr>
            <a:r>
              <a:rPr sz="3300" b="1">
                <a:solidFill>
                  <a:srgbClr val="FFF8E7"/>
                </a:solidFill>
              </a:rPr>
              <a:t>autonomi tanpa kawalan.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82E731-F9F8-4DE7-B51C-9D0502CFD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90850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BF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CF67C-A8BE-4AA0-BF66-0F963DB71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95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1BF00"/>
                </a:solidFill>
              </a:defRPr>
            </a:pPr>
            <a:r>
              <a:rPr sz="1200" b="1">
                <a:solidFill>
                  <a:srgbClr val="F1BF00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06EBD8-D321-4D31-BDE7-49624D22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7719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7"/>
                </a:solidFill>
              </a:defRPr>
            </a:pPr>
            <a:r>
              <a:rPr sz="1875" b="1">
                <a:solidFill>
                  <a:srgbClr val="FFF8E7"/>
                </a:solidFill>
              </a:rPr>
              <a:t>Akses minimum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AD21F-0136-4413-AFA6-79582F2B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6245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E9D0"/>
                </a:solidFill>
              </a:defRPr>
            </a:pPr>
            <a:r>
              <a:rPr sz="1500" b="0">
                <a:solidFill>
                  <a:srgbClr val="F8E9D0"/>
                </a:solidFill>
              </a:rPr>
              <a:t>Beri hanya fail dan aplikasi yang diperlukan.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073C07-05F3-49E9-A87E-8C5175408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90850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15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A0A98-B68C-408A-B1EB-A2E4AA93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1BF00"/>
                </a:solidFill>
              </a:defRPr>
            </a:pPr>
            <a:r>
              <a:rPr sz="1200" b="1">
                <a:solidFill>
                  <a:srgbClr val="F1BF00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6990D-F5B3-40B4-86DB-770583FE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719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7"/>
                </a:solidFill>
              </a:defRPr>
            </a:pPr>
            <a:r>
              <a:rPr sz="1875" b="1">
                <a:solidFill>
                  <a:srgbClr val="FFF8E7"/>
                </a:solidFill>
              </a:rPr>
              <a:t>Semak sebelum guna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A5C6FB-B4E5-476A-AD66-2ED29A568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6245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E9D0"/>
                </a:solidFill>
              </a:defRPr>
            </a:pPr>
            <a:r>
              <a:rPr sz="1500" b="0">
                <a:solidFill>
                  <a:srgbClr val="F8E9D0"/>
                </a:solidFill>
              </a:rPr>
              <a:t>Periksa fakta, angka, penerima dan lampiran.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6DA605-EF5D-42B3-9628-D57EEEC3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990850"/>
            <a:ext cx="3143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A151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5AF07B-C157-4717-8B3B-8AF86046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95650"/>
            <a:ext cx="514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1BF00"/>
                </a:solidFill>
              </a:defRPr>
            </a:pPr>
            <a:r>
              <a:rPr sz="1200" b="1">
                <a:solidFill>
                  <a:srgbClr val="F1BF00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4C8691-5AD8-4F82-BE57-2BFA3D1F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7719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7"/>
                </a:solidFill>
              </a:defRPr>
            </a:pPr>
            <a:r>
              <a:rPr sz="1875" b="1">
                <a:solidFill>
                  <a:srgbClr val="FFF8E7"/>
                </a:solidFill>
              </a:rPr>
              <a:t>Manusia meluluskan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0FF8A4-9E5F-41F0-910F-7D0FB586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36245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8E9D0"/>
                </a:solidFill>
              </a:defRPr>
            </a:pPr>
            <a:r>
              <a:rPr sz="1500" b="0">
                <a:solidFill>
                  <a:srgbClr val="F8E9D0"/>
                </a:solidFill>
              </a:rPr>
              <a:t>Kekalkan kawalan bagi tindakan rasmi dan berimpak tinggi.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A41479-54B7-4679-B820-ECB9F246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115050"/>
            <a:ext cx="819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7"/>
                </a:solidFill>
              </a:defRPr>
            </a:pPr>
            <a:r>
              <a:rPr sz="1425" b="1">
                <a:solidFill>
                  <a:srgbClr val="FFF8E7"/>
                </a:solidFill>
              </a:rPr>
              <a:t>Seterusnya: Gemini → Codex → Claude Cowork</a:t>
            </a:r>
          </a:p>
        </p:txBody>
      </p:sp>
    </p:spTree>
    <p:extLst>
      <p:ext uri="{BB962C8B-B14F-4D97-AF65-F5344CB8AC3E}">
        <p14:creationId xmlns:p14="http://schemas.microsoft.com/office/powerpoint/2010/main" val="3983351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2C070A"/>
      </a:dk1>
      <a:lt1>
        <a:srgbClr val="FFF8E7"/>
      </a:lt1>
      <a:dk2>
        <a:srgbClr val="4A0B10"/>
      </a:dk2>
      <a:lt2>
        <a:srgbClr val="F4E4B4"/>
      </a:lt2>
      <a:accent1>
        <a:srgbClr val="AA151B"/>
      </a:accent1>
      <a:accent2>
        <a:srgbClr val="F1BF00"/>
      </a:accent2>
      <a:accent3>
        <a:srgbClr val="7E1418"/>
      </a:accent3>
      <a:accent4>
        <a:srgbClr val="C62828"/>
      </a:accent4>
      <a:accent5>
        <a:srgbClr val="8A1C24"/>
      </a:accent5>
      <a:accent6>
        <a:srgbClr val="D89E00"/>
      </a:accent6>
      <a:hlink>
        <a:srgbClr val="AA151B"/>
      </a:hlink>
      <a:folHlink>
        <a:srgbClr val="8A1C24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2C070A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2C070A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2C070A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2C070A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2C070A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2C070A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2026-07-20T05:18:10.5460000Z</dcterms:created>
  <dcterms:modified xsi:type="dcterms:W3CDTF">2026-07-20T05:18:10.5460000Z</dcterms:modified>
</coreProperties>
</file>