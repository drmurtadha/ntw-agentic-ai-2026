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0824b6767242b4" /><Relationship Type="http://schemas.openxmlformats.org/officeDocument/2006/relationships/extended-properties" Target="/docProps/app.xml" Id="R8ca2d64d63384bab" /><Relationship Type="http://schemas.openxmlformats.org/officeDocument/2006/relationships/officeDocument" Target="/ppt/presentation.xml" Id="R00a58e91540142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af03d57f044493"/>
  </p:sldMasterIdLst>
  <p:notesMasterIdLst>
    <p:notesMasterId xmlns:r="http://schemas.openxmlformats.org/officeDocument/2006/relationships" r:id="Rc896c66cc2e54c43"/>
  </p:notesMasterIdLst>
  <p:sldIdLst>
    <p:sldId xmlns:r="http://schemas.openxmlformats.org/officeDocument/2006/relationships" id="256" r:id="R96455833dabd4fdf"/>
    <p:sldId xmlns:r="http://schemas.openxmlformats.org/officeDocument/2006/relationships" id="257" r:id="R7e503c8fa1694469"/>
    <p:sldId xmlns:r="http://schemas.openxmlformats.org/officeDocument/2006/relationships" id="258" r:id="R31833ba72e1e4020"/>
    <p:sldId xmlns:r="http://schemas.openxmlformats.org/officeDocument/2006/relationships" id="259" r:id="Rc84a32b6f5d146b4"/>
    <p:sldId xmlns:r="http://schemas.openxmlformats.org/officeDocument/2006/relationships" id="260" r:id="R85ef29d0108947c6"/>
    <p:sldId xmlns:r="http://schemas.openxmlformats.org/officeDocument/2006/relationships" id="261" r:id="R7beabd0d104c4014"/>
    <p:sldId xmlns:r="http://schemas.openxmlformats.org/officeDocument/2006/relationships" id="262" r:id="Rc7245281b94e4d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c8a13d73e14f68" /><Relationship Type="http://schemas.openxmlformats.org/officeDocument/2006/relationships/slideMaster" Target="/ppt/slideMasters/slideMaster1.xml" Id="R2baf03d57f044493" /><Relationship Type="http://schemas.openxmlformats.org/officeDocument/2006/relationships/notesMaster" Target="/ppt/notesMasters/notesMaster1.xml" Id="Rc896c66cc2e54c43" /><Relationship Type="http://schemas.openxmlformats.org/officeDocument/2006/relationships/presProps" Target="/ppt/presProps.xml" Id="R53d6e267731548e6" /><Relationship Type="http://schemas.openxmlformats.org/officeDocument/2006/relationships/tableStyles" Target="/ppt/tableStyles.xml" Id="R69a2ab3155004861" /><Relationship Type="http://schemas.openxmlformats.org/officeDocument/2006/relationships/slide" Target="/ppt/slides/slide1.xml" Id="R96455833dabd4fdf" /><Relationship Type="http://schemas.openxmlformats.org/officeDocument/2006/relationships/slide" Target="/ppt/slides/slide2.xml" Id="R7e503c8fa1694469" /><Relationship Type="http://schemas.openxmlformats.org/officeDocument/2006/relationships/slide" Target="/ppt/slides/slide3.xml" Id="R31833ba72e1e4020" /><Relationship Type="http://schemas.openxmlformats.org/officeDocument/2006/relationships/slide" Target="/ppt/slides/slide4.xml" Id="Rc84a32b6f5d146b4" /><Relationship Type="http://schemas.openxmlformats.org/officeDocument/2006/relationships/slide" Target="/ppt/slides/slide5.xml" Id="R85ef29d0108947c6" /><Relationship Type="http://schemas.openxmlformats.org/officeDocument/2006/relationships/slide" Target="/ppt/slides/slide6.xml" Id="R7beabd0d104c4014" /><Relationship Type="http://schemas.openxmlformats.org/officeDocument/2006/relationships/slide" Target="/ppt/slides/slide7.xml" Id="Rc7245281b94e4d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d76acc245f40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68f45a889046fb" /><Relationship Type="http://schemas.openxmlformats.org/officeDocument/2006/relationships/notesMaster" Target="/ppt/notesMasters/notesMaster1.xml" Id="R756ef76631b846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307894a056431c" /><Relationship Type="http://schemas.openxmlformats.org/officeDocument/2006/relationships/notesMaster" Target="/ppt/notesMasters/notesMaster1.xml" Id="R8bfb1868ff7041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0656fdb2374178" /><Relationship Type="http://schemas.openxmlformats.org/officeDocument/2006/relationships/notesMaster" Target="/ppt/notesMasters/notesMaster1.xml" Id="Rb4d13c891c7148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004c5000b648d8" /><Relationship Type="http://schemas.openxmlformats.org/officeDocument/2006/relationships/notesMaster" Target="/ppt/notesMasters/notesMaster1.xml" Id="R34786df83ff64c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3d5fdd8a3c42c8" /><Relationship Type="http://schemas.openxmlformats.org/officeDocument/2006/relationships/notesMaster" Target="/ppt/notesMasters/notesMaster1.xml" Id="R18ff7eab9fe142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e6343229a643da" /><Relationship Type="http://schemas.openxmlformats.org/officeDocument/2006/relationships/notesMaster" Target="/ppt/notesMasters/notesMaster1.xml" Id="Rf336452a1f6d43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b20fef9ed64147" /><Relationship Type="http://schemas.openxmlformats.org/officeDocument/2006/relationships/notesMaster" Target="/ppt/notesMasters/notesMaster1.xml" Id="R379531f21b2c4c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8e8082c7547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218a713fb842d4" /><Relationship Type="http://schemas.openxmlformats.org/officeDocument/2006/relationships/slideLayout" Target="/ppt/slideLayouts/slideLayout1.xml" Id="R6bacf5611cee4b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acf5611cee4b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e897245484570" /><Relationship Type="http://schemas.openxmlformats.org/officeDocument/2006/relationships/notesSlide" Target="/ppt/notesSlides/notesSlide1.xml" Id="R9066635bf43a4c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9c1f600074078" /><Relationship Type="http://schemas.openxmlformats.org/officeDocument/2006/relationships/notesSlide" Target="/ppt/notesSlides/notesSlide2.xml" Id="R94f1a7c4d2d949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dd4cd92494543" /><Relationship Type="http://schemas.openxmlformats.org/officeDocument/2006/relationships/notesSlide" Target="/ppt/notesSlides/notesSlide3.xml" Id="R7df818cf79d14e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817e943044408" /><Relationship Type="http://schemas.openxmlformats.org/officeDocument/2006/relationships/notesSlide" Target="/ppt/notesSlides/notesSlide4.xml" Id="R827b49f2ea3d4b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b50b6ce3f4527" /><Relationship Type="http://schemas.openxmlformats.org/officeDocument/2006/relationships/notesSlide" Target="/ppt/notesSlides/notesSlide5.xml" Id="Rcdee285e295241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9c8d05ae84d8f" /><Relationship Type="http://schemas.openxmlformats.org/officeDocument/2006/relationships/notesSlide" Target="/ppt/notesSlides/notesSlide6.xml" Id="R2a79c322d5e445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ad854b5f74344" /><Relationship Type="http://schemas.openxmlformats.org/officeDocument/2006/relationships/notesSlide" Target="/ppt/notesSlides/notesSlide7.xml" Id="R8e901ff098f843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F06C6-F272-4DAC-845F-BE7A3CB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175"/>
                </a:solidFill>
              </a:defRPr>
            </a:pPr>
            <a:r>
              <a:rPr sz="1125" b="1">
                <a:solidFill>
                  <a:srgbClr val="536175"/>
                </a:solidFill>
              </a:rPr>
              <a:t>NTW 2026 · UTM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FB9DB-CE03-4D43-AAF2-8A25BC61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1628"/>
                </a:solidFill>
              </a:defRPr>
            </a:pPr>
            <a:r>
              <a:rPr sz="3900" b="1">
                <a:solidFill>
                  <a:srgbClr val="0B1628"/>
                </a:solidFill>
              </a:rPr>
              <a:t>Memanfaatkan Agentic AI untuk</a:t>
            </a:r>
          </a:p>
          <a:p xmlns:a="http://schemas.openxmlformats.org/drawingml/2006/main">
            <a:pPr algn="l">
              <a:defRPr sz="3900" b="1">
                <a:solidFill>
                  <a:srgbClr val="0B1628"/>
                </a:solidFill>
              </a:defRPr>
            </a:pPr>
            <a:r>
              <a:rPr sz="3900" b="1">
                <a:solidFill>
                  <a:srgbClr val="0B1628"/>
                </a:solidFill>
              </a:rPr>
              <a:t>Meningkatkan Produktiviti Harian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A08DE-39FA-431F-9640-86CE1E0C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D7650-8A6F-4102-8BEB-F27ACAE7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175"/>
                </a:solidFill>
              </a:defRPr>
            </a:pPr>
            <a:r>
              <a:rPr sz="2025" b="0">
                <a:solidFill>
                  <a:srgbClr val="536175"/>
                </a:solidFill>
              </a:rPr>
              <a:t>AI sudah boleh menghasilkan jawapan.</a:t>
            </a:r>
          </a:p>
          <a:p xmlns:a="http://schemas.openxmlformats.org/drawingml/2006/main">
            <a:pPr algn="l">
              <a:defRPr sz="2025" b="0">
                <a:solidFill>
                  <a:srgbClr val="536175"/>
                </a:solidFill>
              </a:defRPr>
            </a:pPr>
            <a:r>
              <a:rPr sz="2025" b="0">
                <a:solidFill>
                  <a:srgbClr val="536175"/>
                </a:solidFill>
              </a:rPr>
              <a:t>Tetapi siapa yang menyiapkan kerja selepas itu?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D4E36-7779-4FFB-8171-26D27F63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5"/>
                </a:solidFill>
              </a:defRPr>
            </a:pPr>
            <a:r>
              <a:rPr sz="1200" b="0">
                <a:solidFill>
                  <a:srgbClr val="536175"/>
                </a:solidFill>
              </a:rPr>
              <a:t>Prof. Madya Dr. Mohd Murtadha Mohamad · 21 Julai 2026</a:t>
            </a:r>
          </a:p>
        </p:txBody>
      </p:sp>
    </p:spTree>
    <p:extLst>
      <p:ext uri="{BB962C8B-B14F-4D97-AF65-F5344CB8AC3E}">
        <p14:creationId xmlns:p14="http://schemas.microsoft.com/office/powerpoint/2010/main" val="1629406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F21BA-D3A4-4258-B666-692155EE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5"/>
                </a:solidFill>
              </a:defRPr>
            </a:pPr>
            <a:r>
              <a:rPr sz="1050" b="1">
                <a:solidFill>
                  <a:srgbClr val="536175"/>
                </a:solidFill>
              </a:rPr>
              <a:t>IDEA UTAMA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128BE-DA9D-4D2B-9CAD-8508D1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66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175"/>
                </a:solidFill>
              </a:defRPr>
            </a:pPr>
            <a:r>
              <a:rPr sz="1050" b="1">
                <a:solidFill>
                  <a:srgbClr val="53617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2EB4B-FD69-4387-91DA-1B60E8F0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A827F-7D49-4207-946A-9D4DDACC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628"/>
                </a:solidFill>
              </a:defRPr>
            </a:pPr>
            <a:r>
              <a:rPr sz="3150" b="1">
                <a:solidFill>
                  <a:srgbClr val="0B1628"/>
                </a:solidFill>
              </a:rPr>
              <a:t>Generative AI menghasilkan sesuatu.</a:t>
            </a:r>
          </a:p>
          <a:p xmlns:a="http://schemas.openxmlformats.org/drawingml/2006/main">
            <a:pPr algn="l">
              <a:defRPr sz="3150" b="1">
                <a:solidFill>
                  <a:srgbClr val="0B1628"/>
                </a:solidFill>
              </a:defRPr>
            </a:pPr>
            <a:r>
              <a:rPr sz="3150" b="1">
                <a:solidFill>
                  <a:srgbClr val="0B1628"/>
                </a:solidFill>
              </a:rPr>
              <a:t>Agentic AI menyelesaikan sesuatu.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D3C99-ACC8-46EE-897B-D0CF4E68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197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F3AA3-E1E9-4183-A306-BE9DB6DB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175"/>
                </a:solidFill>
              </a:defRPr>
            </a:pPr>
            <a:r>
              <a:rPr sz="1200" b="1">
                <a:solidFill>
                  <a:srgbClr val="536175"/>
                </a:solidFill>
              </a:rPr>
              <a:t>GENERATIVE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454B1-F032-415B-8A23-5F980998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628"/>
                </a:solidFill>
              </a:defRPr>
            </a:pPr>
            <a:r>
              <a:rPr sz="1275" b="1">
                <a:solidFill>
                  <a:srgbClr val="0B1628"/>
                </a:solidFill>
              </a:rPr>
              <a:t>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21281-A96A-487F-91F4-8815D0DA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956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6A6"/>
                </a:solidFill>
              </a:defRPr>
            </a:pPr>
            <a:r>
              <a:rPr sz="2100" b="1">
                <a:solidFill>
                  <a:srgbClr val="00A6A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6E67D-36C2-4211-927B-D5CCE0FA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52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628"/>
                </a:solidFill>
              </a:defRPr>
            </a:pPr>
            <a:r>
              <a:rPr sz="1275" b="1">
                <a:solidFill>
                  <a:srgbClr val="0B1628"/>
                </a:solidFill>
              </a:rPr>
              <a:t>JAWAPAN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CAEF1-7D08-41DF-B5B2-A674B934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5"/>
                </a:solidFill>
              </a:defRPr>
            </a:pPr>
            <a:r>
              <a:rPr sz="1650" b="0">
                <a:solidFill>
                  <a:srgbClr val="536175"/>
                </a:solidFill>
              </a:rPr>
              <a:t>Menjana teks, imej, idea atau ringkasan—kemudian menunggu arahan seterusnya.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E7969-4EE7-4318-A24C-914BE9A2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56769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FE195-A9C5-49E5-812D-B4BCC53B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F135"/>
                </a:solidFill>
              </a:defRPr>
            </a:pPr>
            <a:r>
              <a:rPr sz="1200" b="1">
                <a:solidFill>
                  <a:srgbClr val="C8F135"/>
                </a:solidFill>
              </a:rPr>
              <a:t>AGENTIC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25693-DBA4-4AA7-8FB9-A6B644A0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MATLAMAT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4FDDD-0FA6-4759-95F5-EF9C1EC0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F135"/>
                </a:solidFill>
              </a:defRPr>
            </a:pPr>
            <a:r>
              <a:rPr sz="2100" b="1">
                <a:solidFill>
                  <a:srgbClr val="C8F13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4A87D-BBFF-4773-B6AA-BF639151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HASIL KERJA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546C1-FE1D-4809-B707-6DD4E305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4EE"/>
                </a:solidFill>
              </a:defRPr>
            </a:pPr>
            <a:r>
              <a:rPr sz="1650" b="0">
                <a:solidFill>
                  <a:srgbClr val="DCE4EE"/>
                </a:solidFill>
              </a:rPr>
              <a:t>Merancang beberapa langkah, menggunakan sumber dan alat, lalu menyemak hasil.</a:t>
            </a:r>
          </a:p>
        </p:txBody>
      </p:sp>
    </p:spTree>
    <p:extLst>
      <p:ext uri="{BB962C8B-B14F-4D97-AF65-F5344CB8AC3E}">
        <p14:creationId xmlns:p14="http://schemas.microsoft.com/office/powerpoint/2010/main" val="11543101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8986EF-1811-4347-B71A-C63F36E8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5"/>
                </a:solidFill>
              </a:defRPr>
            </a:pPr>
            <a:r>
              <a:rPr sz="1050" b="1">
                <a:solidFill>
                  <a:srgbClr val="536175"/>
                </a:solidFill>
              </a:rPr>
              <a:t>CARA AGENT BEKERJA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1B283-DCE6-4E95-BE85-9ECB352C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66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175"/>
                </a:solidFill>
              </a:defRPr>
            </a:pPr>
            <a:r>
              <a:rPr sz="1050" b="1">
                <a:solidFill>
                  <a:srgbClr val="536175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3F846-83D4-4410-B926-D0603140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DBC9B-22CF-41C1-A08B-965462F9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628"/>
                </a:solidFill>
              </a:defRPr>
            </a:pPr>
            <a:r>
              <a:rPr sz="3150" b="1">
                <a:solidFill>
                  <a:srgbClr val="0B1628"/>
                </a:solidFill>
              </a:rPr>
              <a:t>Agent mengubah satu matlamat menjadi beberapa tindakan.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6486B-91B4-4494-AA0C-E5FA45F2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866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2E0BC-E523-4A61-ABE7-C609BF58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8"/>
                </a:solidFill>
              </a:defRPr>
            </a:pPr>
            <a:r>
              <a:rPr sz="1650" b="1">
                <a:solidFill>
                  <a:srgbClr val="0B1628"/>
                </a:solidFill>
              </a:rPr>
              <a:t>1  Fahami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AB9F9-9F77-4FF3-90CA-9A7502AC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504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5"/>
                </a:solidFill>
              </a:defRPr>
            </a:pPr>
            <a:r>
              <a:rPr sz="1425" b="0">
                <a:solidFill>
                  <a:srgbClr val="536175"/>
                </a:solidFill>
              </a:rPr>
              <a:t>Kenal pasti hasil dan batasan.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30761-A446-4C4E-B5A8-350B795F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623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6A6"/>
                </a:solidFill>
              </a:defRPr>
            </a:pPr>
            <a:r>
              <a:rPr sz="1950" b="1">
                <a:solidFill>
                  <a:srgbClr val="00A6A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EC977-9066-458B-A96E-ABCCD174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24100"/>
            <a:ext cx="1866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A3D30-2286-4E01-965B-88BDAFB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527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8"/>
                </a:solidFill>
              </a:defRPr>
            </a:pPr>
            <a:r>
              <a:rPr sz="1650" b="1">
                <a:solidFill>
                  <a:srgbClr val="0B1628"/>
                </a:solidFill>
              </a:rPr>
              <a:t>2  Rancang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B31A0-0BEE-4443-909E-AEE32D42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1504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5"/>
                </a:solidFill>
              </a:defRPr>
            </a:pPr>
            <a:r>
              <a:rPr sz="1425" b="0">
                <a:solidFill>
                  <a:srgbClr val="536175"/>
                </a:solidFill>
              </a:rPr>
              <a:t>Susun langkah yang diperlukan.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25268-7F20-4837-91A3-69D0026A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6A6"/>
                </a:solidFill>
              </a:defRPr>
            </a:pPr>
            <a:r>
              <a:rPr sz="1950" b="1">
                <a:solidFill>
                  <a:srgbClr val="00A6A6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35D97-F444-4C07-8D64-1B469A26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1866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9B91B-027D-46DC-80C0-FB6C8AD3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527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8"/>
                </a:solidFill>
              </a:defRPr>
            </a:pPr>
            <a:r>
              <a:rPr sz="1650" b="1">
                <a:solidFill>
                  <a:srgbClr val="0B1628"/>
                </a:solidFill>
              </a:rPr>
              <a:t>3  Gunakan alat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2958C-1B95-4061-AAD4-BCC60A8D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33750"/>
            <a:ext cx="1504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5"/>
                </a:solidFill>
              </a:defRPr>
            </a:pPr>
            <a:r>
              <a:rPr sz="1425" b="0">
                <a:solidFill>
                  <a:srgbClr val="536175"/>
                </a:solidFill>
              </a:rPr>
              <a:t>Baca fail, data atau aplikasi.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92F76-3B80-4C44-8DDE-A7D74098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6A6"/>
                </a:solidFill>
              </a:defRPr>
            </a:pPr>
            <a:r>
              <a:rPr sz="1950" b="1">
                <a:solidFill>
                  <a:srgbClr val="00A6A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D52D7-D48A-4C72-A2DE-5685ECED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1866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6249E-6DA4-4FD1-B0E5-9EA76D65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8"/>
                </a:solidFill>
              </a:defRPr>
            </a:pPr>
            <a:r>
              <a:rPr sz="1650" b="1">
                <a:solidFill>
                  <a:srgbClr val="0B1628"/>
                </a:solidFill>
              </a:rPr>
              <a:t>4  Hasilkan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0BA47-4EEE-4F83-96C4-F39D8D70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1504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5"/>
                </a:solidFill>
              </a:defRPr>
            </a:pPr>
            <a:r>
              <a:rPr sz="1425" b="0">
                <a:solidFill>
                  <a:srgbClr val="536175"/>
                </a:solidFill>
              </a:rPr>
              <a:t>Cipta dokumen atau kemas kini kerja.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841E2-7608-428F-9E85-B8CCE1DF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623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6A6"/>
                </a:solidFill>
              </a:defRPr>
            </a:pPr>
            <a:r>
              <a:rPr sz="1950" b="1">
                <a:solidFill>
                  <a:srgbClr val="00A6A6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EA71F-74D4-41D7-BAE9-16C5D8D4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24100"/>
            <a:ext cx="1866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BD4C18-0655-4FF0-8ABD-9379B282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527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F135"/>
                </a:solidFill>
              </a:defRPr>
            </a:pPr>
            <a:r>
              <a:rPr sz="1650" b="1">
                <a:solidFill>
                  <a:srgbClr val="C8F135"/>
                </a:solidFill>
              </a:rPr>
              <a:t>5  Semak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99B35-5DC8-4524-A5BF-98C00BB4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504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Uji hasil dan baiki jurang.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398D6A-0CF0-4F22-8198-92AA7788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515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B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8CB4CB-0FF5-476A-9D9B-58D93A3F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628"/>
                </a:solidFill>
              </a:defRPr>
            </a:pPr>
            <a:r>
              <a:rPr sz="1800" b="1">
                <a:solidFill>
                  <a:srgbClr val="0B1628"/>
                </a:solidFill>
              </a:rPr>
              <a:t>Manusia menetapkan matlamat, memberi akses dan meluluskan keputusan penting.</a:t>
            </a:r>
          </a:p>
        </p:txBody>
      </p:sp>
    </p:spTree>
    <p:extLst>
      <p:ext uri="{BB962C8B-B14F-4D97-AF65-F5344CB8AC3E}">
        <p14:creationId xmlns:p14="http://schemas.microsoft.com/office/powerpoint/2010/main" val="8967688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F5134-B0A0-4B95-99D8-CFC50D9D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5"/>
                </a:solidFill>
              </a:defRPr>
            </a:pPr>
            <a:r>
              <a:rPr sz="1050" b="1">
                <a:solidFill>
                  <a:srgbClr val="536175"/>
                </a:solidFill>
              </a:rPr>
              <a:t>CONTOH KERJA UTM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F645F-2881-4D85-9630-4F794908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66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175"/>
                </a:solidFill>
              </a:defRPr>
            </a:pPr>
            <a:r>
              <a:rPr sz="1050" b="1">
                <a:solidFill>
                  <a:srgbClr val="53617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57310-71AE-4626-8D77-403308D7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BEDFF-E1C6-4A2C-9A4D-4E0630F1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628"/>
                </a:solidFill>
              </a:defRPr>
            </a:pPr>
            <a:r>
              <a:rPr sz="3150" b="1">
                <a:solidFill>
                  <a:srgbClr val="0B1628"/>
                </a:solidFill>
              </a:rPr>
              <a:t>Satu tugasan biasa boleh menjadi aliran kerja agent.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71B30-E4EA-4164-BC5F-2473FD42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175"/>
                </a:solidFill>
              </a:defRPr>
            </a:pPr>
            <a:r>
              <a:rPr sz="1200" b="1">
                <a:solidFill>
                  <a:srgbClr val="536175"/>
                </a:solidFill>
              </a:rPr>
              <a:t>SELEPAS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F2044-4DD9-4093-9222-4FC4220C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3619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628"/>
                </a:solidFill>
              </a:defRPr>
            </a:pPr>
            <a:r>
              <a:rPr sz="2400" b="1">
                <a:solidFill>
                  <a:srgbClr val="0B1628"/>
                </a:solidFill>
              </a:rPr>
              <a:t>Sediakan pakej susulan</a:t>
            </a:r>
          </a:p>
          <a:p xmlns:a="http://schemas.openxmlformats.org/drawingml/2006/main">
            <a:pPr algn="l">
              <a:defRPr sz="2400" b="1">
                <a:solidFill>
                  <a:srgbClr val="0B1628"/>
                </a:solidFill>
              </a:defRPr>
            </a:pPr>
            <a:r>
              <a:rPr sz="2400" b="1">
                <a:solidFill>
                  <a:srgbClr val="0B1628"/>
                </a:solidFill>
              </a:rPr>
              <a:t>untuk urus setia.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17AF9-31DC-4D1D-B29F-3FCCF326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66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175"/>
                </a:solidFill>
              </a:defRPr>
            </a:pPr>
            <a:r>
              <a:rPr sz="1350" b="1">
                <a:solidFill>
                  <a:srgbClr val="536175"/>
                </a:solidFill>
              </a:rPr>
              <a:t>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A1B54-C576-49D5-8002-83DA8E1E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2628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4DC27-1314-4F68-9BED-235D1410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628"/>
                </a:solidFill>
              </a:defRPr>
            </a:pPr>
            <a:r>
              <a:rPr sz="1425" b="1">
                <a:solidFill>
                  <a:srgbClr val="0B1628"/>
                </a:solidFill>
              </a:rPr>
              <a:t>Nota mesyuarat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12EE9-B1A1-4AFA-8F3F-4BC193BF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6100"/>
            <a:ext cx="2628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A603C-5D4F-43A1-B35D-FC264CD1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575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628"/>
                </a:solidFill>
              </a:defRPr>
            </a:pPr>
            <a:r>
              <a:rPr sz="1425" b="1">
                <a:solidFill>
                  <a:srgbClr val="0B1628"/>
                </a:solidFill>
              </a:rPr>
              <a:t>Rekod kehadiran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AE415-9E20-4CF2-9B78-9264680F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2628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2531F-EE82-4D3E-93F6-8B995C0D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628"/>
                </a:solidFill>
              </a:defRPr>
            </a:pPr>
            <a:r>
              <a:rPr sz="1425" b="1">
                <a:solidFill>
                  <a:srgbClr val="0B1628"/>
                </a:solidFill>
              </a:rPr>
              <a:t>Maklum balas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B4367-AFA0-4E9E-9CE4-BF41436F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66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175"/>
                </a:solidFill>
              </a:defRPr>
            </a:pPr>
            <a:r>
              <a:rPr sz="1350" b="1">
                <a:solidFill>
                  <a:srgbClr val="536175"/>
                </a:solidFill>
              </a:rPr>
              <a:t>Hasil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5419B-DB3E-466E-9B2E-9BAA54B4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05050"/>
            <a:ext cx="3409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B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DCF28-C1E8-47CE-89C9-8C718DF8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628"/>
                </a:solidFill>
              </a:defRPr>
            </a:pPr>
            <a:r>
              <a:rPr sz="1425" b="1">
                <a:solidFill>
                  <a:srgbClr val="0B1628"/>
                </a:solidFill>
              </a:rPr>
              <a:t>Ringkasan pengurusan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BA031-3131-4FDA-9310-EB0D1D55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6100"/>
            <a:ext cx="3409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B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3E9FA-652C-4246-8B4F-9FFD68AF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575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628"/>
                </a:solidFill>
              </a:defRPr>
            </a:pPr>
            <a:r>
              <a:rPr sz="1425" b="1">
                <a:solidFill>
                  <a:srgbClr val="0B1628"/>
                </a:solidFill>
              </a:rPr>
              <a:t>Jadual tindakan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15BCD-B8BB-4054-9EE7-CEF0C1B4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67150"/>
            <a:ext cx="3409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B934F-6A74-4D34-BDCA-A25EF5E8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386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Draf e-mel susulan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86551-1265-47F6-B7B6-8CA96C48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38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FE310-FEB1-4EA5-AF02-95FA67B9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38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D1C8D-2F07-4D88-A319-C1FCF49F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175"/>
                </a:solidFill>
              </a:defRPr>
            </a:pPr>
            <a:r>
              <a:rPr sz="1800" b="0">
                <a:solidFill>
                  <a:srgbClr val="536175"/>
                </a:solidFill>
              </a:rPr>
              <a:t>Agent membaca sumber, menyusun kerja dan menandakan perkara yang perlu disahkan.</a:t>
            </a:r>
          </a:p>
        </p:txBody>
      </p:sp>
    </p:spTree>
    <p:extLst>
      <p:ext uri="{BB962C8B-B14F-4D97-AF65-F5344CB8AC3E}">
        <p14:creationId xmlns:p14="http://schemas.microsoft.com/office/powerpoint/2010/main" val="465937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A87CE-FC73-49F6-8B4D-C59BCC58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5"/>
                </a:solidFill>
              </a:defRPr>
            </a:pPr>
            <a:r>
              <a:rPr sz="1050" b="1">
                <a:solidFill>
                  <a:srgbClr val="536175"/>
                </a:solidFill>
              </a:rPr>
              <a:t>ANATOMI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A2EEF-3F10-44EB-92F3-35195F02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66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175"/>
                </a:solidFill>
              </a:defRPr>
            </a:pPr>
            <a:r>
              <a:rPr sz="1050" b="1">
                <a:solidFill>
                  <a:srgbClr val="536175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846BA-0F8D-4B05-89DB-9E998B1B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E2BAA-D377-4489-A2B3-95372AB5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628"/>
                </a:solidFill>
              </a:defRPr>
            </a:pPr>
            <a:r>
              <a:rPr sz="3150" b="1">
                <a:solidFill>
                  <a:srgbClr val="0B1628"/>
                </a:solidFill>
              </a:rPr>
              <a:t>Agent menjadi berguna apabila mempunyai konteks dan alat.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52273-1962-4374-99D8-294D1131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238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4BB87-FA03-431A-ACC8-FAFE01D6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A6"/>
                </a:solidFill>
              </a:defRPr>
            </a:pPr>
            <a:r>
              <a:rPr sz="1200" b="1">
                <a:solidFill>
                  <a:srgbClr val="00A6A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CC72B-F0CD-419A-8F73-28B71A1D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628"/>
                </a:solidFill>
              </a:defRPr>
            </a:pPr>
            <a:r>
              <a:rPr sz="2100" b="1">
                <a:solidFill>
                  <a:srgbClr val="0B1628"/>
                </a:solidFill>
              </a:rPr>
              <a:t>Model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AE9FB-2C68-4054-86AE-0815E576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5"/>
                </a:solidFill>
              </a:defRPr>
            </a:pPr>
            <a:r>
              <a:rPr sz="1575" b="0">
                <a:solidFill>
                  <a:srgbClr val="536175"/>
                </a:solidFill>
              </a:rPr>
              <a:t>Memahami matlamat dan membuat pertimbangan.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0350C-AE4C-4410-9BC7-9EA42B49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3238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B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890CB-6147-49E5-8388-32F36A31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A6"/>
                </a:solidFill>
              </a:defRPr>
            </a:pPr>
            <a:r>
              <a:rPr sz="1200" b="1">
                <a:solidFill>
                  <a:srgbClr val="00A6A6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3BDE9-CF5F-4E18-A2A5-9E812E92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861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628"/>
                </a:solidFill>
              </a:defRPr>
            </a:pPr>
            <a:r>
              <a:rPr sz="2100" b="1">
                <a:solidFill>
                  <a:srgbClr val="0B1628"/>
                </a:solidFill>
              </a:rPr>
              <a:t>Konteks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0C46D-5F43-468A-A3E0-7ECA3C97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5"/>
                </a:solidFill>
              </a:defRPr>
            </a:pPr>
            <a:r>
              <a:rPr sz="1575" b="0">
                <a:solidFill>
                  <a:srgbClr val="536175"/>
                </a:solidFill>
              </a:rPr>
              <a:t>Repositori, Google Drive, Docs, data dan arahan.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726EE-A0F4-4275-9FE9-4E19080D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3238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9F33E-0297-4436-9050-6F27A301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F135"/>
                </a:solidFill>
              </a:defRPr>
            </a:pPr>
            <a:r>
              <a:rPr sz="1200" b="1">
                <a:solidFill>
                  <a:srgbClr val="C8F13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78239-2E51-48AD-8AE3-A88798AA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861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Alat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F0225-79C6-4BAF-ACF1-0EE60ED2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909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E4EE"/>
                </a:solidFill>
              </a:defRPr>
            </a:pPr>
            <a:r>
              <a:rPr sz="1575" b="0">
                <a:solidFill>
                  <a:srgbClr val="DCE4EE"/>
                </a:solidFill>
              </a:rPr>
              <a:t>Membaca, mengira, menulis, mencari dan menyusun.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27883-1CC3-44FD-8EF2-D5AAA696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29250"/>
            <a:ext cx="624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8F1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DDB01-808D-4D68-8E7C-5FD414AD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514975"/>
            <a:ext cx="598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628"/>
                </a:solidFill>
              </a:defRPr>
            </a:pPr>
            <a:r>
              <a:rPr sz="1350" b="1">
                <a:solidFill>
                  <a:srgbClr val="0B1628"/>
                </a:solidFill>
              </a:rPr>
              <a:t>Pengawasan manusia mengelilingi keseluruhan proses</a:t>
            </a:r>
          </a:p>
        </p:txBody>
      </p:sp>
    </p:spTree>
    <p:extLst>
      <p:ext uri="{BB962C8B-B14F-4D97-AF65-F5344CB8AC3E}">
        <p14:creationId xmlns:p14="http://schemas.microsoft.com/office/powerpoint/2010/main" val="8995691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B6849B-6A45-4A5C-8EF6-8BE7E9CF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5"/>
                </a:solidFill>
              </a:defRPr>
            </a:pPr>
            <a:r>
              <a:rPr sz="1050" b="1">
                <a:solidFill>
                  <a:srgbClr val="536175"/>
                </a:solidFill>
              </a:rPr>
              <a:t>ARAHAN YANG BERKESAN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5C522-55F1-4F3E-A189-88746F75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66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175"/>
                </a:solidFill>
              </a:defRPr>
            </a:pPr>
            <a:r>
              <a:rPr sz="1050" b="1">
                <a:solidFill>
                  <a:srgbClr val="536175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640DD-D93B-4384-8776-CC3FDF1F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01D56-CC62-43A6-A8CB-B266AD80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628"/>
                </a:solidFill>
              </a:defRPr>
            </a:pPr>
            <a:r>
              <a:rPr sz="3150" b="1">
                <a:solidFill>
                  <a:srgbClr val="0B1628"/>
                </a:solidFill>
              </a:rPr>
              <a:t>Berikan agent sebuah tugasan lengkap—bukan sekadar prompt.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97404-146D-40E4-81EC-933081F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A6"/>
                </a:solidFill>
              </a:defRPr>
            </a:pPr>
            <a:r>
              <a:rPr sz="1200" b="1">
                <a:solidFill>
                  <a:srgbClr val="00A6A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36674-DE19-4549-B37C-41328009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955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628"/>
                </a:solidFill>
              </a:defRPr>
            </a:pPr>
            <a:r>
              <a:rPr sz="1800" b="1">
                <a:solidFill>
                  <a:srgbClr val="0B1628"/>
                </a:solidFill>
              </a:rPr>
              <a:t>Matlamat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2213B-54E3-4B51-8D3C-A6E9E840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5"/>
                </a:solidFill>
              </a:defRPr>
            </a:pPr>
            <a:r>
              <a:rPr sz="1575" b="0">
                <a:solidFill>
                  <a:srgbClr val="536175"/>
                </a:solidFill>
              </a:rPr>
              <a:t>Apa yang mahu dicapai?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5E268-1115-49FA-980C-87227C24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90FD7-E151-4091-A6E4-9E06C9F5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A6"/>
                </a:solidFill>
              </a:defRPr>
            </a:pPr>
            <a:r>
              <a:rPr sz="1200" b="1">
                <a:solidFill>
                  <a:srgbClr val="00A6A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94F9C-F781-4267-9DC0-5DAE61F6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628"/>
                </a:solidFill>
              </a:defRPr>
            </a:pPr>
            <a:r>
              <a:rPr sz="1800" b="1">
                <a:solidFill>
                  <a:srgbClr val="0B1628"/>
                </a:solidFill>
              </a:rPr>
              <a:t>Bahan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CCC37-3700-4EBB-8979-DA1E113D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5"/>
                </a:solidFill>
              </a:defRPr>
            </a:pPr>
            <a:r>
              <a:rPr sz="1575" b="0">
                <a:solidFill>
                  <a:srgbClr val="536175"/>
                </a:solidFill>
              </a:rPr>
              <a:t>Sumber mana boleh digunakan?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621D6-F7BF-46E8-9FD6-973AA1AE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766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A3268-A12A-414B-B3CE-A4D9F842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A6"/>
                </a:solidFill>
              </a:defRPr>
            </a:pPr>
            <a:r>
              <a:rPr sz="1200" b="1">
                <a:solidFill>
                  <a:srgbClr val="00A6A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07ACE-E366-446F-9670-E395BBFE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628"/>
                </a:solidFill>
              </a:defRPr>
            </a:pPr>
            <a:r>
              <a:rPr sz="1800" b="1">
                <a:solidFill>
                  <a:srgbClr val="0B1628"/>
                </a:solidFill>
              </a:rPr>
              <a:t>Batasan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E6808-678D-42B3-83DE-7669C77F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623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5"/>
                </a:solidFill>
              </a:defRPr>
            </a:pPr>
            <a:r>
              <a:rPr sz="1575" b="0">
                <a:solidFill>
                  <a:srgbClr val="536175"/>
                </a:solidFill>
              </a:rPr>
              <a:t>Apa yang tidak boleh dilakukan?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4878F-BF7A-45B4-81C8-B49A1904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005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E47E7-7DAD-4896-8350-C3368C7A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A6"/>
                </a:solidFill>
              </a:defRPr>
            </a:pPr>
            <a:r>
              <a:rPr sz="1200" b="1">
                <a:solidFill>
                  <a:srgbClr val="00A6A6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3408E-9545-4F41-ADB3-986DAD09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672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628"/>
                </a:solidFill>
              </a:defRPr>
            </a:pPr>
            <a:r>
              <a:rPr sz="1800" b="1">
                <a:solidFill>
                  <a:srgbClr val="0B1628"/>
                </a:solidFill>
              </a:rPr>
              <a:t>Hasil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D3E8B-9A52-4D35-BB80-544B87E7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862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5"/>
                </a:solidFill>
              </a:defRPr>
            </a:pPr>
            <a:r>
              <a:rPr sz="1575" b="0">
                <a:solidFill>
                  <a:srgbClr val="536175"/>
                </a:solidFill>
              </a:rPr>
              <a:t>Format akhir apa diperlukan?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66FA6-AC32-450E-84DB-7673DF6E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53119-EF2F-43DC-AFE7-E4AAB802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A6"/>
                </a:solidFill>
              </a:defRPr>
            </a:pPr>
            <a:r>
              <a:rPr sz="1200" b="1">
                <a:solidFill>
                  <a:srgbClr val="00A6A6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214AA9-43D9-4CA7-AC18-F5A4B3F8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911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628"/>
                </a:solidFill>
              </a:defRPr>
            </a:pPr>
            <a:r>
              <a:rPr sz="1800" b="1">
                <a:solidFill>
                  <a:srgbClr val="0B1628"/>
                </a:solidFill>
              </a:rPr>
              <a:t>Semakan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C97BF9-404D-47AF-A8F3-89960050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01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5"/>
                </a:solidFill>
              </a:defRPr>
            </a:pPr>
            <a:r>
              <a:rPr sz="1575" b="0">
                <a:solidFill>
                  <a:srgbClr val="536175"/>
                </a:solidFill>
              </a:rPr>
              <a:t>Apa yang mesti disahkan?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22B13-09BF-4993-A336-534F11B3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483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76219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6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AA7C9-09C1-4C0D-8B87-9D30BEC7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135"/>
                </a:solidFill>
              </a:defRPr>
            </a:pPr>
            <a:r>
              <a:rPr sz="1125" b="1">
                <a:solidFill>
                  <a:srgbClr val="C8F135"/>
                </a:solidFill>
              </a:rPr>
              <a:t>SEBELUM KITA DEMONSTRASIKAN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47D31-0071-4AB4-AF9B-58DB6CFB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Agentic tidak bermaksud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autonomi tanpa kawalan.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2E731-F9F8-4DE7-B51C-9D0502CF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1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CF67C-A8BE-4AA0-BF66-0F963DB7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F135"/>
                </a:solidFill>
              </a:defRPr>
            </a:pPr>
            <a:r>
              <a:rPr sz="1200" b="1">
                <a:solidFill>
                  <a:srgbClr val="C8F13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6EBD8-D321-4D31-BDE7-49624D22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Akses minimum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AD21F-0136-4413-AFA6-79582F2B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4EE"/>
                </a:solidFill>
              </a:defRPr>
            </a:pPr>
            <a:r>
              <a:rPr sz="1500" b="0">
                <a:solidFill>
                  <a:srgbClr val="DCE4EE"/>
                </a:solidFill>
              </a:rPr>
              <a:t>Beri hanya fail dan aplikasi yang diperlukan.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73C07-05F3-49E9-A87E-8C517540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908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A0A98-B68C-408A-B1EB-A2E4AA93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F135"/>
                </a:solidFill>
              </a:defRPr>
            </a:pPr>
            <a:r>
              <a:rPr sz="1200" b="1">
                <a:solidFill>
                  <a:srgbClr val="C8F13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6990D-F5B3-40B4-86DB-770583FE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719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Semak sebelum guna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5C6FB-B4E5-476A-AD66-2ED29A56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624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4EE"/>
                </a:solidFill>
              </a:defRPr>
            </a:pPr>
            <a:r>
              <a:rPr sz="1500" b="0">
                <a:solidFill>
                  <a:srgbClr val="DCE4EE"/>
                </a:solidFill>
              </a:rPr>
              <a:t>Periksa fakta, angka, penerima dan lampiran.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DA605-EF5D-42B3-9628-D57EEEC3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8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AF07B-C157-4717-8B3B-8AF86046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F135"/>
                </a:solidFill>
              </a:defRPr>
            </a:pPr>
            <a:r>
              <a:rPr sz="1200" b="1">
                <a:solidFill>
                  <a:srgbClr val="C8F13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C8691-5AD8-4F82-BE57-2BFA3D1F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719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Manusia meluluskan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FF8A4-9E5F-41F0-910F-7D0FB586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4EE"/>
                </a:solidFill>
              </a:defRPr>
            </a:pPr>
            <a:r>
              <a:rPr sz="1500" b="0">
                <a:solidFill>
                  <a:srgbClr val="DCE4EE"/>
                </a:solidFill>
              </a:rPr>
              <a:t>Kekalkan kawalan bagi tindakan rasmi dan berimpak tinggi.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41479-54B7-4679-B820-ECB9F246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Seterusnya: Gemini → Codex → Claude Cowork</a:t>
            </a:r>
          </a:p>
        </p:txBody>
      </p:sp>
    </p:spTree>
    <p:extLst>
      <p:ext uri="{BB962C8B-B14F-4D97-AF65-F5344CB8AC3E}">
        <p14:creationId xmlns:p14="http://schemas.microsoft.com/office/powerpoint/2010/main" val="398335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2026-07-19T15:36:48.3880000Z</dcterms:created>
  <dcterms:modified xsi:type="dcterms:W3CDTF">2026-07-19T15:36:48.3880000Z</dcterms:modified>
</coreProperties>
</file>